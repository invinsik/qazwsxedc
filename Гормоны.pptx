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Open Sans" panose="020B0604020202020204" charset="0"/>
      <p:regular r:id="rId18"/>
    </p:embeddedFont>
    <p:embeddedFont>
      <p:font typeface="Open Sans Light Bold" panose="020B0604020202020204" charset="0"/>
      <p:regular r:id="rId19"/>
    </p:embeddedFont>
    <p:embeddedFont>
      <p:font typeface="Open Sans Light" panose="020B0604020202020204" charset="0"/>
      <p:regular r:id="rId20"/>
    </p:embeddedFont>
    <p:embeddedFont>
      <p:font typeface="Cormorant Garamond Light" panose="020B0604020202020204" charset="-52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51" y="343959"/>
            <a:ext cx="8489616" cy="9599081"/>
            <a:chOff x="0" y="0"/>
            <a:chExt cx="11319488" cy="1279877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0510" r="20510"/>
            <a:stretch>
              <a:fillRect/>
            </a:stretch>
          </p:blipFill>
          <p:spPr>
            <a:xfrm>
              <a:off x="0" y="0"/>
              <a:ext cx="11319488" cy="12798775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9672634" y="6669407"/>
            <a:ext cx="7282691" cy="2382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88"/>
              </a:lnSpc>
              <a:spcBef>
                <a:spcPct val="0"/>
              </a:spcBef>
            </a:pPr>
            <a:r>
              <a:rPr lang="en-US" sz="3348" dirty="0" err="1">
                <a:solidFill>
                  <a:srgbClr val="3D2E12"/>
                </a:solidFill>
                <a:latin typeface="Cormorant Garamond Light"/>
              </a:rPr>
              <a:t>Выполнили</a:t>
            </a:r>
            <a:r>
              <a:rPr lang="en-US" sz="3348" dirty="0">
                <a:solidFill>
                  <a:srgbClr val="3D2E12"/>
                </a:solidFill>
                <a:latin typeface="Cormorant Garamond Light"/>
              </a:rPr>
              <a:t>: </a:t>
            </a:r>
            <a:r>
              <a:rPr lang="en-US" sz="3348" dirty="0" err="1">
                <a:solidFill>
                  <a:srgbClr val="3D2E12"/>
                </a:solidFill>
                <a:latin typeface="Cormorant Garamond Light"/>
              </a:rPr>
              <a:t>ученики</a:t>
            </a:r>
            <a:r>
              <a:rPr lang="en-US" sz="3348" dirty="0">
                <a:solidFill>
                  <a:srgbClr val="3D2E12"/>
                </a:solidFill>
                <a:latin typeface="Cormorant Garamond Light"/>
              </a:rPr>
              <a:t> 10 б </a:t>
            </a:r>
            <a:r>
              <a:rPr lang="en-US" sz="3348" dirty="0" err="1">
                <a:solidFill>
                  <a:srgbClr val="3D2E12"/>
                </a:solidFill>
                <a:latin typeface="Cormorant Garamond Light"/>
              </a:rPr>
              <a:t>класса</a:t>
            </a:r>
            <a:r>
              <a:rPr lang="en-US" sz="3348" dirty="0">
                <a:solidFill>
                  <a:srgbClr val="3D2E12"/>
                </a:solidFill>
                <a:latin typeface="Cormorant Garamond Light"/>
              </a:rPr>
              <a:t> </a:t>
            </a:r>
            <a:r>
              <a:rPr lang="en-US" sz="3348" dirty="0" err="1">
                <a:solidFill>
                  <a:srgbClr val="3D2E12"/>
                </a:solidFill>
                <a:latin typeface="Cormorant Garamond Light"/>
              </a:rPr>
              <a:t>Александров</a:t>
            </a:r>
            <a:r>
              <a:rPr lang="en-US" sz="3348" dirty="0">
                <a:solidFill>
                  <a:srgbClr val="3D2E12"/>
                </a:solidFill>
                <a:latin typeface="Cormorant Garamond Light"/>
              </a:rPr>
              <a:t> </a:t>
            </a:r>
            <a:r>
              <a:rPr lang="en-US" sz="3348" dirty="0" err="1">
                <a:solidFill>
                  <a:srgbClr val="3D2E12"/>
                </a:solidFill>
                <a:latin typeface="Cormorant Garamond Light"/>
              </a:rPr>
              <a:t>Даниил</a:t>
            </a:r>
            <a:r>
              <a:rPr lang="en-US" sz="3348" dirty="0">
                <a:solidFill>
                  <a:srgbClr val="3D2E12"/>
                </a:solidFill>
                <a:latin typeface="Cormorant Garamond Light"/>
              </a:rPr>
              <a:t>, </a:t>
            </a:r>
            <a:endParaRPr lang="ru-RU" sz="3348" dirty="0" smtClean="0">
              <a:solidFill>
                <a:srgbClr val="3D2E12"/>
              </a:solidFill>
              <a:latin typeface="Cormorant Garamond Light"/>
            </a:endParaRPr>
          </a:p>
          <a:p>
            <a:pPr algn="r">
              <a:lnSpc>
                <a:spcPts val="4688"/>
              </a:lnSpc>
              <a:spcBef>
                <a:spcPct val="0"/>
              </a:spcBef>
            </a:pPr>
            <a:r>
              <a:rPr lang="en-US" sz="3348" dirty="0" err="1" smtClean="0">
                <a:solidFill>
                  <a:srgbClr val="3D2E12"/>
                </a:solidFill>
                <a:latin typeface="Cormorant Garamond Light"/>
              </a:rPr>
              <a:t>Коякова</a:t>
            </a:r>
            <a:r>
              <a:rPr lang="en-US" sz="3348" dirty="0" smtClean="0">
                <a:solidFill>
                  <a:srgbClr val="3D2E12"/>
                </a:solidFill>
                <a:latin typeface="Cormorant Garamond Light"/>
              </a:rPr>
              <a:t> </a:t>
            </a:r>
            <a:r>
              <a:rPr lang="en-US" sz="3348" dirty="0" err="1">
                <a:solidFill>
                  <a:srgbClr val="3D2E12"/>
                </a:solidFill>
                <a:latin typeface="Cormorant Garamond Light"/>
              </a:rPr>
              <a:t>Полина</a:t>
            </a:r>
            <a:r>
              <a:rPr lang="en-US" sz="3348" dirty="0">
                <a:solidFill>
                  <a:srgbClr val="3D2E12"/>
                </a:solidFill>
                <a:latin typeface="Cormorant Garamond Light"/>
              </a:rPr>
              <a:t>, </a:t>
            </a:r>
            <a:endParaRPr lang="ru-RU" sz="3348" dirty="0" smtClean="0">
              <a:solidFill>
                <a:srgbClr val="3D2E12"/>
              </a:solidFill>
              <a:latin typeface="Cormorant Garamond Light"/>
            </a:endParaRPr>
          </a:p>
          <a:p>
            <a:pPr algn="r">
              <a:lnSpc>
                <a:spcPts val="4688"/>
              </a:lnSpc>
              <a:spcBef>
                <a:spcPct val="0"/>
              </a:spcBef>
            </a:pPr>
            <a:r>
              <a:rPr lang="en-US" sz="3348" dirty="0" err="1" smtClean="0">
                <a:solidFill>
                  <a:srgbClr val="3D2E12"/>
                </a:solidFill>
                <a:latin typeface="Cormorant Garamond Light"/>
              </a:rPr>
              <a:t>Гупало</a:t>
            </a:r>
            <a:r>
              <a:rPr lang="en-US" sz="3348" dirty="0" smtClean="0">
                <a:solidFill>
                  <a:srgbClr val="3D2E12"/>
                </a:solidFill>
                <a:latin typeface="Cormorant Garamond Light"/>
              </a:rPr>
              <a:t> </a:t>
            </a:r>
            <a:r>
              <a:rPr lang="en-US" sz="3348" dirty="0" err="1">
                <a:solidFill>
                  <a:srgbClr val="3D2E12"/>
                </a:solidFill>
                <a:latin typeface="Cormorant Garamond Light"/>
              </a:rPr>
              <a:t>Варвара</a:t>
            </a:r>
            <a:endParaRPr lang="en-US" sz="3348" dirty="0">
              <a:solidFill>
                <a:srgbClr val="3D2E12"/>
              </a:solidFill>
              <a:latin typeface="Cormorant Garamond Ligh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72634" y="3735991"/>
            <a:ext cx="7282691" cy="140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2"/>
              </a:lnSpc>
            </a:pPr>
            <a:r>
              <a:rPr lang="en-US" sz="9225">
                <a:solidFill>
                  <a:srgbClr val="3D2E12"/>
                </a:solidFill>
                <a:latin typeface="Cormorant Garamond Light"/>
              </a:rPr>
              <a:t>Гормоны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88647" y="3874652"/>
            <a:ext cx="5364136" cy="300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5"/>
              </a:lnSpc>
              <a:spcBef>
                <a:spcPct val="0"/>
              </a:spcBef>
            </a:pPr>
            <a:r>
              <a:rPr lang="en-US" sz="6587">
                <a:solidFill>
                  <a:srgbClr val="000000"/>
                </a:solidFill>
                <a:latin typeface="Cormorant Garamond Light"/>
              </a:rPr>
              <a:t> Биологически активные вещества 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400000">
            <a:off x="9762476" y="2499947"/>
            <a:ext cx="8711330" cy="576883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54796" y="393802"/>
            <a:ext cx="15178408" cy="150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2319"/>
              </a:lnSpc>
              <a:spcBef>
                <a:spcPct val="0"/>
              </a:spcBef>
            </a:pPr>
            <a:r>
              <a:rPr lang="en-US" sz="8800">
                <a:solidFill>
                  <a:srgbClr val="3D2E12"/>
                </a:solidFill>
                <a:latin typeface="Cormorant Garamond Light"/>
              </a:rPr>
              <a:t>Что такое гормоны?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05133"/>
            <a:ext cx="16200551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60"/>
              </a:lnSpc>
            </a:pPr>
            <a:r>
              <a:rPr lang="en-US" sz="8800">
                <a:solidFill>
                  <a:srgbClr val="3D2E12"/>
                </a:solidFill>
                <a:latin typeface="Cormorant Garamond Light"/>
              </a:rPr>
              <a:t>Ученые , внесшие вклад в изучение гормонов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8700" y="3181592"/>
            <a:ext cx="4210393" cy="556824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14243" y="3181592"/>
            <a:ext cx="3963163" cy="556824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619096" y="3181592"/>
            <a:ext cx="4640204" cy="556824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014243" y="8683161"/>
            <a:ext cx="396316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Клод Бернар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19096" y="8683161"/>
            <a:ext cx="46402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Шарль Броун-Секар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683161"/>
            <a:ext cx="421039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Томас Аддисон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557712"/>
            <a:ext cx="18288000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90"/>
              </a:lnSpc>
            </a:pPr>
            <a:r>
              <a:rPr lang="en-US" sz="7825">
                <a:solidFill>
                  <a:srgbClr val="3D2E12"/>
                </a:solidFill>
                <a:latin typeface="Cormorant Garamond Light"/>
              </a:rPr>
              <a:t>Основные свойства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90356" y="952500"/>
            <a:ext cx="5050672" cy="294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pen Sans Light"/>
              </a:rPr>
              <a:t>Черезвычайно высокая биологическая активность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60309" y="1828165"/>
            <a:ext cx="4106750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pen Sans Light"/>
              </a:rPr>
              <a:t>Дистанционное действие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59738" y="6643215"/>
            <a:ext cx="4111908" cy="219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pen Sans Light"/>
              </a:rPr>
              <a:t>Быстрое разрушение в тканях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83459" y="6271740"/>
            <a:ext cx="4660452" cy="294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pen Sans Light"/>
              </a:rPr>
              <a:t>Непрерывное продуцирование и регулируемая секреция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56031" y="750346"/>
            <a:ext cx="11775939" cy="140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2"/>
              </a:lnSpc>
            </a:pPr>
            <a:r>
              <a:rPr lang="en-US" sz="9225" dirty="0" err="1">
                <a:solidFill>
                  <a:srgbClr val="3D2E12"/>
                </a:solidFill>
                <a:latin typeface="Cormorant Garamond Light"/>
              </a:rPr>
              <a:t>Строение</a:t>
            </a:r>
            <a:endParaRPr lang="en-US" sz="9225" dirty="0">
              <a:solidFill>
                <a:srgbClr val="3D2E12"/>
              </a:solidFill>
              <a:latin typeface="Cormorant Garamond Ligh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722975" y="4190365"/>
            <a:ext cx="4842050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000000"/>
                </a:solidFill>
                <a:latin typeface="Open Sans"/>
              </a:rPr>
              <a:t>Производные аминокислот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936558"/>
            <a:ext cx="4842050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000000"/>
                </a:solidFill>
                <a:latin typeface="Open Sans"/>
              </a:rPr>
              <a:t>Белково-пептидные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30207" y="3398520"/>
            <a:ext cx="3203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000000"/>
                </a:solidFill>
                <a:latin typeface="Open Sans"/>
              </a:rPr>
              <a:t>Стероиды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469" y="5390150"/>
            <a:ext cx="5782512" cy="4689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1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Cormorant Garamond Light"/>
              </a:rPr>
              <a:t>Состоят из аминокислотных остатков и синтезируются из неактивных прогормонов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14373" y="6722142"/>
            <a:ext cx="5259254" cy="253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5"/>
              </a:lnSpc>
              <a:spcBef>
                <a:spcPct val="0"/>
              </a:spcBef>
            </a:pPr>
            <a:r>
              <a:rPr lang="en-US" sz="5525">
                <a:solidFill>
                  <a:srgbClr val="000000"/>
                </a:solidFill>
                <a:latin typeface="Cormorant Garamond Light"/>
              </a:rPr>
              <a:t>Для синтеза используется тирозин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54868" y="5390150"/>
            <a:ext cx="5754203" cy="428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6"/>
              </a:lnSpc>
              <a:spcBef>
                <a:spcPct val="0"/>
              </a:spcBef>
            </a:pPr>
            <a:r>
              <a:rPr lang="en-US" sz="5625">
                <a:solidFill>
                  <a:srgbClr val="000000"/>
                </a:solidFill>
                <a:latin typeface="Cormorant Garamond Light"/>
              </a:rPr>
              <a:t>В их основе холестерин, поэтому они легко проникают через кровоток</a:t>
            </a:r>
          </a:p>
        </p:txBody>
      </p:sp>
      <p:sp>
        <p:nvSpPr>
          <p:cNvPr id="14" name="Стрелка вправо 13"/>
          <p:cNvSpPr/>
          <p:nvPr/>
        </p:nvSpPr>
        <p:spPr>
          <a:xfrm rot="8789906">
            <a:off x="5122963" y="1865938"/>
            <a:ext cx="1371600" cy="12220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низ 14"/>
          <p:cNvSpPr/>
          <p:nvPr/>
        </p:nvSpPr>
        <p:spPr>
          <a:xfrm>
            <a:off x="8461157" y="2408902"/>
            <a:ext cx="1219200" cy="13651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право 15"/>
          <p:cNvSpPr/>
          <p:nvPr/>
        </p:nvSpPr>
        <p:spPr>
          <a:xfrm rot="2325258">
            <a:off x="11823362" y="1908061"/>
            <a:ext cx="1359649" cy="12192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56031" y="750346"/>
            <a:ext cx="11775939" cy="140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2"/>
              </a:lnSpc>
            </a:pPr>
            <a:r>
              <a:rPr lang="en-US" sz="9225">
                <a:solidFill>
                  <a:srgbClr val="3D2E12"/>
                </a:solidFill>
                <a:latin typeface="Cormorant Garamond Light"/>
              </a:rPr>
              <a:t>Функции гормонов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10852" y="3158979"/>
            <a:ext cx="14666296" cy="586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19" lvl="1" indent="-518160">
              <a:lnSpc>
                <a:spcPts val="7871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Open Sans Light"/>
              </a:rPr>
              <a:t>  Влияние на процессы дифференцировки у  развивающегося эмбриона</a:t>
            </a:r>
          </a:p>
          <a:p>
            <a:pPr marL="1036319" lvl="1" indent="-518160" algn="just">
              <a:lnSpc>
                <a:spcPts val="7871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Open Sans Light"/>
              </a:rPr>
              <a:t>    Регуляция процесса размножения</a:t>
            </a:r>
          </a:p>
          <a:p>
            <a:pPr marL="1036319" lvl="1" indent="-518160" algn="just">
              <a:lnSpc>
                <a:spcPts val="7871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Open Sans Light"/>
              </a:rPr>
              <a:t>    Влияние на рост и развитие</a:t>
            </a:r>
          </a:p>
          <a:p>
            <a:pPr marL="1036319" lvl="1" indent="-518160" algn="just">
              <a:lnSpc>
                <a:spcPts val="7871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Open Sans Light"/>
              </a:rPr>
              <a:t>    Обеспечение адаптации</a:t>
            </a:r>
          </a:p>
          <a:p>
            <a:pPr marL="1036320" lvl="1" indent="-518160" algn="just">
              <a:lnSpc>
                <a:spcPts val="7872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Open Sans Light"/>
              </a:rPr>
              <a:t>    Участие в регуляции скорости старения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42641" y="2972389"/>
            <a:ext cx="7716659" cy="481519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68042" y="2972389"/>
            <a:ext cx="6696794" cy="51699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502655" y="1019175"/>
            <a:ext cx="7282691" cy="140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2"/>
              </a:lnSpc>
            </a:pPr>
            <a:r>
              <a:rPr lang="en-US" sz="9225">
                <a:solidFill>
                  <a:srgbClr val="3D2E12"/>
                </a:solidFill>
                <a:latin typeface="Cormorant Garamond Light"/>
              </a:rPr>
              <a:t>Гипоталамус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42641" y="8075639"/>
            <a:ext cx="771665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Окситоцин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42" y="8075639"/>
            <a:ext cx="669679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Вазопрессин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3790" r="22657"/>
          <a:stretch>
            <a:fillRect/>
          </a:stretch>
        </p:blipFill>
        <p:spPr>
          <a:xfrm>
            <a:off x="1028700" y="3578963"/>
            <a:ext cx="4192103" cy="531657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9038" r="23798"/>
          <a:stretch>
            <a:fillRect/>
          </a:stretch>
        </p:blipFill>
        <p:spPr>
          <a:xfrm>
            <a:off x="6909350" y="3578963"/>
            <a:ext cx="4469300" cy="531657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5833" r="15734"/>
          <a:stretch>
            <a:fillRect/>
          </a:stretch>
        </p:blipFill>
        <p:spPr>
          <a:xfrm>
            <a:off x="12785345" y="3578963"/>
            <a:ext cx="4838064" cy="531657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502655" y="320183"/>
            <a:ext cx="7282691" cy="140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2"/>
              </a:lnSpc>
            </a:pPr>
            <a:r>
              <a:rPr lang="en-US" sz="9225">
                <a:solidFill>
                  <a:srgbClr val="3D2E12"/>
                </a:solidFill>
                <a:latin typeface="Cormorant Garamond Light"/>
              </a:rPr>
              <a:t>Гипофиз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183594"/>
            <a:ext cx="419210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Соматропин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09350" y="9183594"/>
            <a:ext cx="44693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Фоллитропин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85345" y="9183594"/>
            <a:ext cx="483806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Пролактин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1727692"/>
            <a:ext cx="18288000" cy="1688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5"/>
              </a:lnSpc>
              <a:spcBef>
                <a:spcPct val="0"/>
              </a:spcBef>
            </a:pPr>
            <a:r>
              <a:rPr lang="en-US" sz="5525">
                <a:solidFill>
                  <a:srgbClr val="000000"/>
                </a:solidFill>
                <a:latin typeface="Cormorant Garamond Light"/>
              </a:rPr>
              <a:t>состоит из 3-х долей: передней и средней (они образуют аденогипофиз) и задней (нейрогипофиз)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8700" y="2689792"/>
            <a:ext cx="5806654" cy="439370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87019" y="3035897"/>
            <a:ext cx="9072281" cy="370149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261099" y="694006"/>
            <a:ext cx="9765801" cy="140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2"/>
              </a:lnSpc>
            </a:pPr>
            <a:r>
              <a:rPr lang="en-US" sz="9225">
                <a:solidFill>
                  <a:srgbClr val="3D2E12"/>
                </a:solidFill>
                <a:latin typeface="Cormorant Garamond Light"/>
              </a:rPr>
              <a:t>Щитовидная железа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016818"/>
            <a:ext cx="580665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Тироксин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87019" y="7016818"/>
            <a:ext cx="907228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Кальцитонин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9899" y="8166583"/>
            <a:ext cx="16928201" cy="137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75"/>
              </a:lnSpc>
              <a:spcBef>
                <a:spcPct val="0"/>
              </a:spcBef>
            </a:pPr>
            <a:r>
              <a:rPr lang="en-US" sz="4525">
                <a:solidFill>
                  <a:srgbClr val="000000"/>
                </a:solidFill>
                <a:latin typeface="Cormorant Garamond Light"/>
              </a:rPr>
              <a:t>При гипофункции железы в детстве развивается болезнь кретинизм, в зрелом возрасте — микседема; при гиперфункции — базедова болезнь.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7483" y="3958266"/>
            <a:ext cx="6818122" cy="485357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2024" y="5044293"/>
            <a:ext cx="5938683" cy="327651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972651" y="4668209"/>
            <a:ext cx="5876596" cy="4028682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502655" y="320183"/>
            <a:ext cx="7282691" cy="140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2"/>
              </a:lnSpc>
            </a:pPr>
            <a:r>
              <a:rPr lang="en-US" sz="9225">
                <a:solidFill>
                  <a:srgbClr val="3D2E12"/>
                </a:solidFill>
                <a:latin typeface="Cormorant Garamond Light"/>
              </a:rPr>
              <a:t>Надпочечники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7483" y="9188582"/>
            <a:ext cx="68181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Альдостерон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365" y="1718167"/>
            <a:ext cx="18288000" cy="190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2"/>
              </a:lnSpc>
              <a:spcBef>
                <a:spcPct val="0"/>
              </a:spcBef>
            </a:pPr>
            <a:r>
              <a:rPr lang="en-US" sz="6225">
                <a:solidFill>
                  <a:srgbClr val="000000"/>
                </a:solidFill>
                <a:latin typeface="Cormorant Garamond Light"/>
              </a:rPr>
              <a:t>парные железы, расположенные над почками, и состоящие из коркового и мозгового вещества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70079" y="9188582"/>
            <a:ext cx="530257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Адреналин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72651" y="9188582"/>
            <a:ext cx="587659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Норадреналин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40323" y="1771849"/>
            <a:ext cx="4902614" cy="513793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389054" y="-9525"/>
            <a:ext cx="11509891" cy="140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2"/>
              </a:lnSpc>
            </a:pPr>
            <a:r>
              <a:rPr lang="en-US" sz="9225">
                <a:solidFill>
                  <a:srgbClr val="3D2E12"/>
                </a:solidFill>
                <a:latin typeface="Cormorant Garamond Light"/>
              </a:rPr>
              <a:t>Поджелудочная железа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-5400000">
            <a:off x="11015977" y="-206525"/>
            <a:ext cx="3391958" cy="9094687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140323" y="7047525"/>
            <a:ext cx="490261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Инсулин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64613" y="7047525"/>
            <a:ext cx="909468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Глюкагон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7882715"/>
            <a:ext cx="18288000" cy="210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6"/>
              </a:lnSpc>
              <a:spcBef>
                <a:spcPct val="0"/>
              </a:spcBef>
            </a:pPr>
            <a:r>
              <a:rPr lang="en-US" sz="4625">
                <a:solidFill>
                  <a:srgbClr val="000000"/>
                </a:solidFill>
                <a:latin typeface="Cormorant Garamond Light"/>
              </a:rPr>
              <a:t>Сахарный диабет — болезнь, характеризующаяся повышением уровня глюкозы в крови, нарушением углеводного и жирового обмена, ухудшением реабсорбции глюкозы в почках.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8700" y="3979114"/>
            <a:ext cx="5916345" cy="384346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17412" y="3863622"/>
            <a:ext cx="6453176" cy="40744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814838" y="3460091"/>
            <a:ext cx="5917435" cy="4362489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61099" y="694006"/>
            <a:ext cx="9765801" cy="140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2"/>
              </a:lnSpc>
            </a:pPr>
            <a:r>
              <a:rPr lang="en-US" sz="9225">
                <a:solidFill>
                  <a:srgbClr val="3D2E12"/>
                </a:solidFill>
                <a:latin typeface="Cormorant Garamond Light"/>
              </a:rPr>
              <a:t>Половые железы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228878"/>
            <a:ext cx="591634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Тестостерон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17412" y="8228878"/>
            <a:ext cx="771226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Эстрадиол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14838" y="8228878"/>
            <a:ext cx="591743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 Bold"/>
              </a:rPr>
              <a:t>Прогестерон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56337" y="2572996"/>
            <a:ext cx="286107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000000"/>
                </a:solidFill>
                <a:latin typeface="Open Sans"/>
              </a:rPr>
              <a:t>Мужские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8608" y="2572996"/>
            <a:ext cx="286107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000000"/>
                </a:solidFill>
                <a:latin typeface="Open Sans"/>
              </a:rPr>
              <a:t>Женские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214</Words>
  <Application>Microsoft Office PowerPoint</Application>
  <PresentationFormat>Произвольный</PresentationFormat>
  <Paragraphs>55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Calibri</vt:lpstr>
      <vt:lpstr>Open Sans</vt:lpstr>
      <vt:lpstr>Open Sans Light Bold</vt:lpstr>
      <vt:lpstr>Open Sans Light</vt:lpstr>
      <vt:lpstr>Arial</vt:lpstr>
      <vt:lpstr>Cormorant Garamond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Гормоны</dc:title>
  <cp:lastModifiedBy>Пользователь</cp:lastModifiedBy>
  <cp:revision>2</cp:revision>
  <dcterms:created xsi:type="dcterms:W3CDTF">2006-08-16T00:00:00Z</dcterms:created>
  <dcterms:modified xsi:type="dcterms:W3CDTF">2021-05-25T21:20:18Z</dcterms:modified>
  <dc:identifier>DAEfg1snMAc</dc:identifier>
</cp:coreProperties>
</file>